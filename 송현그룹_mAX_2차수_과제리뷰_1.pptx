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66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120640" cy="512064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840480" cy="3840480"/>
          </a:xfrm>
          <a:prstGeom prst="ellipse">
            <a:avLst/>
          </a:prstGeom>
          <a:solidFill>
            <a:srgbClr val="0E7C86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ACADEMY · AX STRATEGY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송현그룹 2차수 사전과제 리뷰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팀장을 위한 AX 관점 가이드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310896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</a:t>
            </a:r>
            <a:r>
              <a:rPr lang="ko-KR" alt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유형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3개 계열사(KPF·SBB·TMC)와 지주(IT혁신실)의 현업 담당자가 제안한 실전 AI 과제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8089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49808" y="180136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1801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444752" y="1911096"/>
            <a:ext cx="1483614" cy="329184"/>
          </a:xfrm>
          <a:prstGeom prst="roundRect">
            <a:avLst>
              <a:gd name="adj" fmla="val 13889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444752" y="1911096"/>
            <a:ext cx="14836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언어·지식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532888"/>
            <a:ext cx="217855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열간 단조 데이터 기반 AI 운영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329184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케이피에프(KPF) · 부품생산팀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5566" y="1600200"/>
            <a:ext cx="258089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586734" y="1801368"/>
            <a:ext cx="566928" cy="566928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586734" y="1801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281678" y="1911096"/>
            <a:ext cx="1483614" cy="329184"/>
          </a:xfrm>
          <a:prstGeom prst="roundRect">
            <a:avLst>
              <a:gd name="adj" fmla="val 13889"/>
            </a:avLst>
          </a:prstGeom>
          <a:solidFill>
            <a:srgbClr val="FBE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81678" y="1911096"/>
            <a:ext cx="14836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판독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86734" y="2532888"/>
            <a:ext cx="217855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최적의 단말 LOSS 시스템 구축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86734" y="329184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케이피에프(KPF) · 화스너 성형팀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22492" y="1600200"/>
            <a:ext cx="258089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23660" y="180136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23660" y="1801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118604" y="1911096"/>
            <a:ext cx="1483614" cy="329184"/>
          </a:xfrm>
          <a:prstGeom prst="roundRect">
            <a:avLst>
              <a:gd name="adj" fmla="val 13889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118604" y="1911096"/>
            <a:ext cx="14836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언어·지식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23660" y="2532888"/>
            <a:ext cx="217855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금형 BOM 검색 · 유사 금형 추천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23660" y="329184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케이피에프(KPF) · 화스너 연구개발팀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59418" y="1600200"/>
            <a:ext cx="258089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260586" y="1801368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260586" y="1801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955530" y="1911096"/>
            <a:ext cx="1483614" cy="329184"/>
          </a:xfrm>
          <a:prstGeom prst="roundRect">
            <a:avLst>
              <a:gd name="adj" fmla="val 13889"/>
            </a:avLst>
          </a:prstGeom>
          <a:solidFill>
            <a:srgbClr val="F1EC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955530" y="1911096"/>
            <a:ext cx="14836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260586" y="2532888"/>
            <a:ext cx="217855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 설비 실시간 모니터링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260586" y="329184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삼보모터스(SBB) · 생산혁신팀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023360"/>
            <a:ext cx="258089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49808" y="422452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49808" y="4224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444752" y="4334256"/>
            <a:ext cx="1483614" cy="329184"/>
          </a:xfrm>
          <a:prstGeom prst="roundRect">
            <a:avLst>
              <a:gd name="adj" fmla="val 13889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444752" y="4334256"/>
            <a:ext cx="14836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언어·지식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9808" y="4956048"/>
            <a:ext cx="217855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그룹사 On-Premise LLM 챗봇 구축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49808" y="571500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송현홀딩스 · IT혁신실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85566" y="4023360"/>
            <a:ext cx="258089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586734" y="4224528"/>
            <a:ext cx="566928" cy="566928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586734" y="4224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4281678" y="4334256"/>
            <a:ext cx="1483614" cy="329184"/>
          </a:xfrm>
          <a:prstGeom prst="roundRect">
            <a:avLst>
              <a:gd name="adj" fmla="val 13889"/>
            </a:avLst>
          </a:prstGeom>
          <a:solidFill>
            <a:srgbClr val="FBE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281678" y="4334256"/>
            <a:ext cx="14836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판독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586734" y="4956048"/>
            <a:ext cx="217855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기반 불량 검출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3586734" y="571500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티엠씨(TMC) · 광생산팀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22492" y="4023360"/>
            <a:ext cx="258089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423660" y="4224528"/>
            <a:ext cx="566928" cy="566928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423660" y="4224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7118604" y="4334256"/>
            <a:ext cx="1483614" cy="329184"/>
          </a:xfrm>
          <a:prstGeom prst="roundRect">
            <a:avLst>
              <a:gd name="adj" fmla="val 13889"/>
            </a:avLst>
          </a:prstGeom>
          <a:solidFill>
            <a:srgbClr val="E6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118604" y="4334256"/>
            <a:ext cx="14836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자율주행·로보틱스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423660" y="4956048"/>
            <a:ext cx="217855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(선박) 보빈 이동 적재 AMR 도입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6423660" y="571500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티엠씨(TMC) · 생산기술AX팀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059418" y="4023360"/>
            <a:ext cx="258089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9260586" y="4224528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9260586" y="4224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9955530" y="4334256"/>
            <a:ext cx="1483614" cy="329184"/>
          </a:xfrm>
          <a:prstGeom prst="roundRect">
            <a:avLst>
              <a:gd name="adj" fmla="val 13889"/>
            </a:avLst>
          </a:prstGeom>
          <a:solidFill>
            <a:srgbClr val="F1EC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9955530" y="4334256"/>
            <a:ext cx="14836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260586" y="4956048"/>
            <a:ext cx="217855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작업표준 이상감지 · 경고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9260586" y="571500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티엠씨(TMC) · 생산2팀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과제 성격 비교표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모델의 성격 = 입력(X) · 출력(y) · 학습 방식으로 구분 · 데이터 준비도는 착수 난이도의 지표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39496"/>
              </p:ext>
            </p:extLst>
          </p:nvPr>
        </p:nvGraphicFramePr>
        <p:xfrm>
          <a:off x="548640" y="1371600"/>
          <a:ext cx="10886385" cy="4526280"/>
        </p:xfrm>
        <a:graphic>
          <a:graphicData uri="http://schemas.openxmlformats.org/drawingml/2006/table">
            <a:tbl>
              <a:tblPr/>
              <a:tblGrid>
                <a:gridCol w="426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7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8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9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과제 / 계열사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유형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 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출력 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방식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열간단조 비가동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분류·추천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비가동 텍스트·등록 성향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원인 분류·조치 추천 (범주)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지도 · 텍스트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단말 LOSS 최적화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비전 판정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환봉 치수·비전 이미지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단접 여부·잔여길이 (범주+수치)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지도 · 이미지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금형 BOM 검색·추천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임베딩 검색·추천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제품·금형코드·규격·BOM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재사용/확인/신규 (범주)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임베딩 검색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가공설비 모니터링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 탐지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진동·온도·부하 센서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이상/비가동 여부 (범주)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비지도 · 시계열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 LLM 챗봇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송현홀딩스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생성형 LLM·RAG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질문·사내 문서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답변 정확도·환각 (평가)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생성 · 표현학습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비전 불량검출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비전 객체탐지·분류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케이블 외관 이미지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불량 유형·위치 (범주+BBox)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지도 · 이미지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보빈 이동적재 AMR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자율주행 SLAM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LiDAR·카메라 3D 공간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주행 성공·위치정밀도 (제어)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로보틱스 · 제어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작업표준 이상감지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 탐지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PLC 시계열(외경·온도·압력)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정상/주의/불량 (범주)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비지도 · 시계열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유형별 과제군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성격이 비슷한 과제는 데이터·인프라·검증 방법을 공유할 수 있어, 팀 간 협력과 자원 배분의 단위가 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178" cy="42976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178" cy="868680"/>
          </a:xfrm>
          <a:prstGeom prst="roundRect">
            <a:avLst>
              <a:gd name="adj" fmla="val 8421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567178" cy="41148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728216"/>
            <a:ext cx="22928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비전 판독형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9808" y="2624328"/>
            <a:ext cx="216484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이미지를 학습해 분류·검출. 카메라·조명·라벨링·데이터 증강이 공통 관건.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4114800"/>
            <a:ext cx="216484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단말 LOSS 최적화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AI 비전 불량 검출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0138" y="1600200"/>
            <a:ext cx="2567178" cy="42976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390138" y="1600200"/>
            <a:ext cx="2567178" cy="868680"/>
          </a:xfrm>
          <a:prstGeom prst="roundRect">
            <a:avLst>
              <a:gd name="adj" fmla="val 8421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390138" y="2057400"/>
            <a:ext cx="2567178" cy="41148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527298" y="1728216"/>
            <a:ext cx="22928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이상 탐지형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591306" y="2624328"/>
            <a:ext cx="216484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패턴을 학습해 시계열 이탈을 감지. 라벨 부담 적으나 오탐 관리가 핵심.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91306" y="4114800"/>
            <a:ext cx="23660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가공설비 실시간 모니터링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작업표준 이상감지·경고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1636" y="1600200"/>
            <a:ext cx="2567178" cy="42976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31636" y="1600200"/>
            <a:ext cx="2567178" cy="868680"/>
          </a:xfrm>
          <a:prstGeom prst="roundRect">
            <a:avLst>
              <a:gd name="adj" fmla="val 8421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31636" y="2057400"/>
            <a:ext cx="2567178" cy="4114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68796" y="1728216"/>
            <a:ext cx="22928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언어·지식형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32804" y="2624328"/>
            <a:ext cx="216484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텍스트·문서를 다루는 NLP·생성·검색. 표기 표준화와 정답셋 품질이 성능을 좌우.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32804" y="4114800"/>
            <a:ext cx="216484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열간단조 비가동 AI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금형 BOM 검색·추천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On-Premise LLM 챗봇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73134" y="1600200"/>
            <a:ext cx="2567178" cy="42976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073134" y="1600200"/>
            <a:ext cx="2567178" cy="868680"/>
          </a:xfrm>
          <a:prstGeom prst="roundRect">
            <a:avLst>
              <a:gd name="adj" fmla="val 8421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073134" y="2057400"/>
            <a:ext cx="2567178" cy="41148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210294" y="1728216"/>
            <a:ext cx="22928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자율주행·로보틱스형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274302" y="2624328"/>
            <a:ext cx="216484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학습보다 매핑·제어 중심. 설비 도입 후 운행 데이터의 자산화가 다음 단계.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74302" y="4114800"/>
            <a:ext cx="216484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보빈 이동 적재 AMR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301752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25603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열간 단조 데이터 기반 AI 운영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536192" y="84124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케이피에프(KPF) · 부품생산팀 · 김봉하 책임매니저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04120" y="4572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04120" y="457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언어·지식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개요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설비 비가동 사유·조치 기록을 AI가 자동 코딩·표준화해 반복 원인을 신속히 도출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현재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비가동 내역을 작업자가 자유 텍스트로 기록 → 기간별 조회·문서 점검에 업무 LOSS, 원인·특이사항 누락 발생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52744" y="3739896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54496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E4F2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83096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목표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83096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발생 시 사유·조치를 추천 기반으로 자동 코딩, 작업자별 조치 방법 표준화 → 비가동시간 단축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목표(KPI)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5686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30분 → 10분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943600" y="5394960"/>
            <a:ext cx="0" cy="594360"/>
          </a:xfrm>
          <a:prstGeom prst="line">
            <a:avLst/>
          </a:prstGeom>
          <a:noFill/>
          <a:ln w="12700">
            <a:solidFill>
              <a:srgbClr val="3A4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5367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처리 (텍스트 분류 · 조치 추천)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56967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비가동 원인 파악 시간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 1  </a:t>
            </a:r>
            <a:r>
              <a:rPr lang="en-US" sz="2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과제의 특징과 성공 조건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열간 단조 데이터 기반 AI 운영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모델의 성격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· 회귀/분류/생성 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24688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(X)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77063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비가동 코드·상세 내역 텍스트, 등록자 등록 성향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39312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36393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(y)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941064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비가동 원인 분류 / 조치 추천 (범주형)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09744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78992" y="48097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· 학습 방식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511149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 텍스트 기반 분류 + 추천 · 지도학습 (DLIT 업체 솔루션 검토)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569671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17920" y="1618488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성공적인 수행의 조건과 필요 사항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2093976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작업자별 표기 편차·오타가 최대 리스크 — 정지사유/조치 코드의 최소 공통 분류체계 표준화가 선결 과제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29900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935224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비가동 조회 · ERP 가동/비가동 시간(2024.01~) 데이터 추출·연동 파이프라인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831336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3831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3776472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설비기술팀 고장 원인 자문 · DLIT 업체 구축 · 관련부서 사용방법 공유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0" y="4919472"/>
            <a:ext cx="5696712" cy="1207008"/>
          </a:xfrm>
          <a:prstGeom prst="roundRect">
            <a:avLst>
              <a:gd name="adj" fmla="val 530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0" y="5084064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관점 — 추진 포인트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5422392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모델보다 먼저 '자유 텍스트 → 드롭다운+추천 입력'으로 기록 방식을 바꾸는 것이 핵심. 코드체계 표준화가 정확도의 8할.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301752"/>
            <a:ext cx="777240" cy="77724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25603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활용 최적의 단말 LOSS 시스템 구축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536192" y="84124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케이피에프(KPF) · 화스너 성형팀 · 김재영 매니저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04120" y="4572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04120" y="457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판독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개요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환봉(BAR) 단말부 버림량을 비전으로 판별해 양품 LOSS와 원재료 투입을 절감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현재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사용 시 단말부 인접 4~5개를 단순계산으로 일괄 버림 → 양품까지 LOSS 발생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52744" y="3739896"/>
            <a:ext cx="292608" cy="292608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54496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BEEE6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83096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목표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83096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 직전 비전으로 실제 잔여 길이를 측정, 사용가능 여부를 판정해 불필요한 슬러그 배출 축소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목표(KPI)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5686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4~5개 → 4개 미만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943600" y="5394960"/>
            <a:ext cx="0" cy="594360"/>
          </a:xfrm>
          <a:prstGeom prst="line">
            <a:avLst/>
          </a:prstGeom>
          <a:noFill/>
          <a:ln w="12700">
            <a:solidFill>
              <a:srgbClr val="3A4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5367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(분류 · 판정)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56967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단말부 버림 수량 (단계적 3개)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 2  </a:t>
            </a:r>
            <a:r>
              <a:rPr lang="en-US" sz="2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과제의 특징과 성공 조건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최적의 단말 LOSS 시스템 구축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모델의 성격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· 회귀/분류/생성 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24688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(X)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77063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처리수량, 환봉 직경·투입 본수, 절단 길이, 절단 직전 비전 이미지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39312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36393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(y)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941064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슬러그 수량 / 단접 여부 (범주형 판정) · 잔여 길이 (수치)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09744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78992" y="48097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· 학습 방식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511149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기반 판정 · 지도학습 (길이 측정=회귀 + 단접 판정=분류 혼합)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569671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17920" y="1618488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성공적인 수행의 조건과 필요 사항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BE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2093976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카메라 위치·조명·촬영각도·픽셀-mm 변환값 보정, 끝단 검출률 95%↑ 확보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BE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29900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935224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단접품 = 품질사고 직결 → 안전여유·신뢰도 임계값을 보수적으로 설정(혼입 0건)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831336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BE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3831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3776472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업체 비전 솔루션 검증, 현장 실측 데이터 확보, 설비 제어 연동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0" y="4919472"/>
            <a:ext cx="5696712" cy="1207008"/>
          </a:xfrm>
          <a:prstGeom prst="roundRect">
            <a:avLst>
              <a:gd name="adj" fmla="val 530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0" y="5084064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관점 — 추진 포인트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5422392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오판이 곧 불량 유출. 초기엔 기존 4개 버림 기준을 유지한 채 병행 검증하고, 혼입 0건 확인 후 단계적으로 기준을 낮출 것.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301752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25603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기반 금형 BOM 검색 · 유사 금형 추천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536192" y="84124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케이피에프(KPF) · 화스너 연구개발팀 · 윤석진 매니저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04120" y="4572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04120" y="457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언어·지식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개요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제품·규격 입력만으로 유사·기존 금형을 검색·추천해 설계 검토시간 단축, 중복 금형 생성 방지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현재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장표에서 담당자가 금형코드·규격·도면을 직접 검색, BOM·도면 수작업 확인 (평균 1시간)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52744" y="3739896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54496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E4F2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83096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목표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83096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검색 시 스테이션별 필요 금형을 통합 검색하고 유사 금형·중복 가능성·사유를 자동 제시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목표(KPI)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5686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60분 → 15분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943600" y="5394960"/>
            <a:ext cx="0" cy="594360"/>
          </a:xfrm>
          <a:prstGeom prst="line">
            <a:avLst/>
          </a:prstGeom>
          <a:noFill/>
          <a:ln w="12700">
            <a:solidFill>
              <a:srgbClr val="3A4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5367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유사도 검색 · 추천 (NLP)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56967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금형 검색 시간 (추천 일치율 90%↑)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 3  </a:t>
            </a:r>
            <a:r>
              <a:rPr lang="en-US" sz="2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과제의 특징과 성공 조건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금형 BOM 검색 · 유사 금형 추천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모델의 성격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· 회귀/분류/생성 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24688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(X)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77063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제품·금형 코드, 규격(문자·수치 혼합), BOM 구성품, 스테이션 #1~#4, 도면번호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39312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36393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(y)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941064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 / 확인 필요 / 신규 설계 필요 (범주형)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09744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78992" y="48097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· 학습 방식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511149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임베딩 유사도 검색 + 규칙기반 · 추천 (Ko-SBERT/e5 + FAISS/pgvector 벡터DB)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569671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17920" y="1618488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성공적인 수행의 조건과 필요 사항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2093976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표기 불일치가 매칭 정확도를 좌우 — ERP 금형 데이터 정규화·표준화가 핵심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29900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935224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검색용 DB·벡터DB 구축, 도면 OCR은 정형 영역부터 후속 고도화로 검토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831336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3831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3776472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냉간 금형실 실사용 정보 제공, 현업 담당자 검증 시간 확보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0" y="4919472"/>
            <a:ext cx="5696712" cy="1207008"/>
          </a:xfrm>
          <a:prstGeom prst="roundRect">
            <a:avLst>
              <a:gd name="adj" fmla="val 530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0" y="5084064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관점 — 추진 포인트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5422392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자동판정이 아닌 '설계자 보조'로 포지셔닝. 파편화된 금형 정보 표준화가 정확도의 관건이자 향후 설계 자동화 기반.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301752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25603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가공 설비 실시간 모니터링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536192" y="84124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삼보모터스(SBB) · 생산혁신팀 · 장인채 사원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04120" y="4572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04120" y="457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탐지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개요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CNC 가공설비의 실시간 데이터로 이상 징후를 조기 감지해 비가동·품질 문제를 사전 예방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현재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작업자가 현장에서 설비·가공 상태를 수동 점검, 이상·공구 마모 발생 시 사후 대응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52744" y="3739896"/>
            <a:ext cx="292608" cy="29260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54496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1EC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83096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목표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83096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Guard 기반 설비 데이터 실시간 수집·통합 모니터링, 이상 패턴 감지 시 자동 알람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목표(KPI)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5686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정확도 90%↑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943600" y="5394960"/>
            <a:ext cx="0" cy="594360"/>
          </a:xfrm>
          <a:prstGeom prst="line">
            <a:avLst/>
          </a:prstGeom>
          <a:noFill/>
          <a:ln w="12700">
            <a:solidFill>
              <a:srgbClr val="3A4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5367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데이터 분석 · 이상 패턴 탐지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56967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탐지 · 점검시간 50% 절감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 4  </a:t>
            </a:r>
            <a:r>
              <a:rPr lang="en-US" sz="2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과제의 특징과 성공 조건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 설비 실시간 모니터링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모델의 성격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· 회귀/분류/생성 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24688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(X)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77063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가동시간, 부하율, 진동값, 온도값 등 설비 상태 센서 데이터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39312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36393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(y)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941064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이상 발생 여부 / 비가동 여부 (범주형)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09744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78992" y="48097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· 학습 방식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511149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센서 기반 이상 탐지(비지도) + 분류 · Quality Guard 솔루션 검토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569671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17920" y="1618488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성공적인 수행의 조건과 필요 사항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1EC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2093976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설비별 데이터 형식이 상이·일부만 보유 — 수집 체계와 형식 표준화가 선결 과제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1EC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29900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935224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Guard 도입, 설비 PLC·MES 연동, 실시간 대시보드·알람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831336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1EC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3831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3776472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정상/이상 라벨 확보, 현장 작업자 시스템 적응·운영 협조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0" y="4919472"/>
            <a:ext cx="5696712" cy="1207008"/>
          </a:xfrm>
          <a:prstGeom prst="roundRect">
            <a:avLst>
              <a:gd name="adj" fmla="val 530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0" y="5084064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관점 — 추진 포인트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5422392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데이터 보유 수준이 낮음(생산일보 위주). 센서 데이터 수집체계 구축이 먼저이며, PoC는 핵심 설비 소수로 좁혀 시작할 것.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301752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25603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그룹사 On-Premise LLM 챗봇 구축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536192" y="84124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송현홀딩스 · IT혁신실 · 최원 매니저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04120" y="4572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04120" y="457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언어·지식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개요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사내 규정·SOP 기반 폐쇄형 LLM으로 데이터 유출을 원천 차단하며 규정 검색·문서 분석을 효율화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현재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생성형 AI 사용 확산, 보안상 첨부 차단·프롬프트를 통한 내부정보 유출 통제 불가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52744" y="3739896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54496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E4F2F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83096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목표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83096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지식과 외부 정보를 결합한 폐쇄형 통합 AI 서비스, 부서·TFT 공유 Room 협업 지원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목표(KPI)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5686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30분 → 5분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943600" y="5394960"/>
            <a:ext cx="0" cy="594360"/>
          </a:xfrm>
          <a:prstGeom prst="line">
            <a:avLst/>
          </a:prstGeom>
          <a:noFill/>
          <a:ln w="12700">
            <a:solidFill>
              <a:srgbClr val="3A4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5367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(LLM + RAG)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56967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정보검색 시간(80%↓) · 유출 0건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 5  </a:t>
            </a:r>
            <a:r>
              <a:rPr lang="en-US" sz="2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과제의 특징과 성공 조건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그룹사 On-Premise LLM 챗봇 구축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모델의 성격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· 회귀/분류/생성 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24688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(X)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77063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질문·프롬프트, 문서 검색 결과, 응답시간·토큰 사용량 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39312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36393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(y)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941064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정확도 / 환각 여부 / 사용자 만족도 (범주형 평가)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09744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78992" y="48097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· 학습 방식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511149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모델 + 표현학습(RAG 임베딩) · Llama3·Solar·EEVE 한국어 오픈소스 + Ollama 양자화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569671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17920" y="1618488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성공적인 수행의 조건과 필요 사항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2093976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계열사별 문서 파편화·디지털화 수준 상이 → OCR 품질과 최신본(버전) 관리가 핵심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29900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935224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GPU 서버, SSO 연동, 내부/외부 모델 경로 분리 보안 파이프라인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831336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3831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3776472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현업 기반 예상질문·표준정답(Golden Set) 구축, 보안 정책 지원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0" y="4919472"/>
            <a:ext cx="5696712" cy="1207008"/>
          </a:xfrm>
          <a:prstGeom prst="roundRect">
            <a:avLst>
              <a:gd name="adj" fmla="val 530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0" y="5084064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관점 — 추진 포인트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5422392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유일한 전사 공통 인프라 과제 — 타 과제의 지식검색·문서 기반이 될 수 있음. 정답셋(Golden Set) 품질이 답변 정확도를 결정.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301752"/>
            <a:ext cx="777240" cy="77724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25603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비전 기반 불량 검출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536192" y="84124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티엠씨(TMC) · 광생산팀 · 김재화·심재권 매니저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04120" y="4572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04120" y="457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판독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개요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케이블 외관 불량을 비전으로 실시간 자동 검출해 육안검사 한계를 보완하고 품질을 안정화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현재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외경검출기+육안 검사에 의존 → 스크래치·찢어짐·오염 등은 검출 불가, 불량 유출 위험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52744" y="3739896"/>
            <a:ext cx="292608" cy="292608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54496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BEEE6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83096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목표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83096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산업용 카메라+CNN·YOLO 실시간 자동검사로 불량 위치·유형을 검출하고 작업자에게 알람 제공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목표(KPI)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5686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불량률 50%↓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943600" y="5394960"/>
            <a:ext cx="0" cy="594360"/>
          </a:xfrm>
          <a:prstGeom prst="line">
            <a:avLst/>
          </a:prstGeom>
          <a:noFill/>
          <a:ln w="12700">
            <a:solidFill>
              <a:srgbClr val="3A4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5367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(객체 탐지 + 분류)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56967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검출 정확도 80%↑ · 비용 연1천만원↓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 6  </a:t>
            </a:r>
            <a:r>
              <a:rPr lang="en-US" sz="2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과제의 특징과 성공 조건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기반 불량 검출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모델의 성격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· 회귀/분류/생성 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24688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(X)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77063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케이블 외관 이미지 (색상·표면 패턴·밝기·스크래치 형태 등)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39312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36393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(y)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941064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정상/불량 + 불량 유형(스크래치·찍힘·오염·인쇄·색상) + 위치(Bounding Box)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09744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78992" y="48097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· 학습 방식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511149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객체 탐지(YOLOv8) + 분류(CNN·ResNet/EfficientNet) · 지도학습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569671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17920" y="1618488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성공적인 수행의 조건과 필요 사항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BE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2093976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 데이터 부족·특정 유형 편중이 최대 난관 — 라벨링과 데이터 증강이 성패를 좌우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BE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29900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935224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산업용 카메라·조명·GPU 분석 서버 설치, 조명/반사 환경 표준화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831336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BE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3831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3776472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품질경영팀 불량 유형 정의·판정, 설비기술팀 카메라 설치, 현장 실증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0" y="4919472"/>
            <a:ext cx="5696712" cy="1207008"/>
          </a:xfrm>
          <a:prstGeom prst="roundRect">
            <a:avLst>
              <a:gd name="adj" fmla="val 530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0" y="5084064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관점 — 추진 포인트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5422392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라벨링·증강이 성패를 좌우. 미세 스크래치 등 난이도 높은 불량은 2단계로 분리하고, 초기 목표를 80%로 현실적으로 설정.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301752"/>
            <a:ext cx="777240" cy="77724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25603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(선박) 보빈 이동 적재 AMR 도입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536192" y="84124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티엠씨(TMC) · 생산기술AX팀 · 임현수 매니저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04120" y="4572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04120" y="457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자율주행·로보틱스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개요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절연체 보빈을 AMR 자율주행으로 공정 간 자동 이송해 유인 지게차를 대체하고 안전·비용을 개선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현재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공정지원반이 2.5톤 지게차로 반제품·공보빈 이송 → 임대료·수배 지연·표찰 이해도에 의존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52744" y="3739896"/>
            <a:ext cx="292608" cy="292608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54496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E6F2EA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83096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목표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83096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SLAM 자율주행 AMR가 규정속도·최적경로로 절연체·공보빈을 자동 이송(충전 제외 상시 가동)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목표(KPI)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5686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성공률 95%↑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943600" y="5394960"/>
            <a:ext cx="0" cy="594360"/>
          </a:xfrm>
          <a:prstGeom prst="line">
            <a:avLst/>
          </a:prstGeom>
          <a:noFill/>
          <a:ln w="12700">
            <a:solidFill>
              <a:srgbClr val="3A4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5367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(ROS2 Navigation · SLAM)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56967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위치정밀도 ±5cm · 충돌 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 7  </a:t>
            </a:r>
            <a:r>
              <a:rPr lang="en-US" sz="2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과제의 특징과 성공 조건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(선박) 보빈 이동 적재 AMR 도입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모델의 성격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· 회귀/분류/생성 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24688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(X)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77063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LiDAR·카메라 3D 공간 데이터, 물류 이동거리·빈도·경로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39312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36393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(y)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941064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성공률 / 위치 정밀도 / 장애물 회피 (제어 성능 지표)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09744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78992" y="48097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· 학습 방식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511149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로보틱스 자율주행(ROS2 Navigation + SLAM) · 경로 최적화(A*) · YOLO 객체 탐지 — '학습'보다 매핑·제어 중심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569671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17920" y="1618488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성공적인 수행의 조건과 필요 사항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6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2093976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 정밀 3D 지도 생성과 주행 최적화(맵핑 튜닝)에 충분한 기간 확보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6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29900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935224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장비 셋업, 배터리 효율·LiDAR/카메라 센서 안정성 확보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831336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6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3831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3776472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운영·생산·IT 역할 명확화, 확대 시 MES 위치(Location) 연동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0" y="4919472"/>
            <a:ext cx="5696712" cy="1207008"/>
          </a:xfrm>
          <a:prstGeom prst="roundRect">
            <a:avLst>
              <a:gd name="adj" fmla="val 530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0" y="5084064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관점 — 추진 포인트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5422392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모델링보다 물류 자동화 설비 도입 성격. AX 관점에선 RFID·MES 위치 데이터 연계로 운행 이력을 '데이터 자산화'하는 것이 다음 단계.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301752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017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25603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작업표준 이상감지 · 경고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536192" y="84124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티엠씨(TMC) · 생산2팀 · 방진석 매니저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04120" y="4572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04120" y="457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탐지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개요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설비 PLC 데이터를 실시간 분석해 작업표준 이탈을 즉시 감지·경고하고 불량을 사전 예방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현재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데이터가 2초 단위로 축적되나 실시간 분석·모니터링 부재 → 불량 발생 후 역추적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52744" y="3739896"/>
            <a:ext cx="292608" cy="29260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54496" y="2788920"/>
            <a:ext cx="5385816" cy="2194560"/>
          </a:xfrm>
          <a:prstGeom prst="roundRect">
            <a:avLst>
              <a:gd name="adj" fmla="val 2917"/>
            </a:avLst>
          </a:prstGeom>
          <a:solidFill>
            <a:srgbClr val="F1ECFB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83096" y="2971800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목표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83096" y="3429000"/>
            <a:ext cx="49286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작업표준 준수 여부 실시간 모니터링과 선제적 알림 → 사후 조치에서 사전 예방으로 전환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목표(KPI)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5686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정확도 90%↑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943600" y="5394960"/>
            <a:ext cx="0" cy="594360"/>
          </a:xfrm>
          <a:prstGeom prst="line">
            <a:avLst/>
          </a:prstGeom>
          <a:noFill/>
          <a:ln w="12700">
            <a:solidFill>
              <a:srgbClr val="3A4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5367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비지도학습 기반 이상 탐지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56967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지연 5초 미만 · 부적합율 10%↓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 8  </a:t>
            </a:r>
            <a:r>
              <a:rPr lang="en-US" sz="2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과제의 특징과 성공 조건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작업표준 이상감지 · 경고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모델의 성격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· 회귀/분류/생성 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24688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(X)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77063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센서 PLC 시계열 데이터 (외경·온도·압력 등)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39312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36393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(y)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941064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작업표준 이탈 여부 (정상 / 주의 / 불량 / 노이즈)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09744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78992" y="48097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· 학습 방식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511149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 이상 탐지 · One-Class SVM·PCA·LSTM-AE 검토 → Isolation Forest 채택(정상 데이터만으로 학습)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569671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17920" y="1618488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성공적인 수행의 조건과 필요 사항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1EC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2093976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결측·노이즈, 비가동 구간 제외·메디안 필터 등 정제, 설계표준 공차 기준 확보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1EC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29900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2935224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분석 서버(On-Premise)·모니터링 대시보드, MES/PDM 결합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831336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1EC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3831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3776472"/>
            <a:ext cx="4096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IT혁신실 PLC 추출·인프라, 설비기술팀 데이터 안정성, 오탐 관리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0" y="4919472"/>
            <a:ext cx="5696712" cy="1207008"/>
          </a:xfrm>
          <a:prstGeom prst="roundRect">
            <a:avLst>
              <a:gd name="adj" fmla="val 530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0" y="5084064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관점 — 추진 포인트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0" y="5422392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데이터만으로 학습 가능해 라벨링 부담이 적은 실현성 높은 과제. 오탐(오경보) 관리가 현장 신뢰 확보의 관건.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828800"/>
            <a:ext cx="4572000" cy="457200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추진 </a:t>
            </a:r>
            <a:r>
              <a:rPr lang="ko-KR" alt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과제의 성패는 모델</a:t>
            </a:r>
            <a:r>
              <a:rPr lang="ko-KR" alt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구현 자체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보다 데이터·현업·검증 체계에서 </a:t>
            </a:r>
            <a:r>
              <a:rPr lang="ko-KR" alt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판가름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85816" cy="1828800"/>
          </a:xfrm>
          <a:prstGeom prst="roundRect">
            <a:avLst>
              <a:gd name="adj" fmla="val 4000"/>
            </a:avLst>
          </a:prstGeom>
          <a:solidFill>
            <a:srgbClr val="1E2E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04672" y="20574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04672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200" y="2057400"/>
            <a:ext cx="4105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</a:t>
            </a:r>
            <a:r>
              <a:rPr lang="ko-KR" alt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준비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560320"/>
            <a:ext cx="4059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6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표기·코드 표준화, 라벨링, 정답셋(Golden Set) 확보가 모델 선택보다 성능을 좌우한다. 착수 전 '데이터 준비도(상·중·하)'를 냉정히 점검.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1783080"/>
            <a:ext cx="5385816" cy="1828800"/>
          </a:xfrm>
          <a:prstGeom prst="roundRect">
            <a:avLst>
              <a:gd name="adj" fmla="val 4000"/>
            </a:avLst>
          </a:prstGeom>
          <a:solidFill>
            <a:srgbClr val="1E2E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510528" y="20574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10528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06056" y="2057400"/>
            <a:ext cx="4105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현업 검증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06056" y="2560320"/>
            <a:ext cx="4059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6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정의·오탐 판단·현장 실증은 담당자 몫. 팀장이 검증 시간을 '공식 업무'로 배정해야 과제가 멈추지 않는다.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85816" cy="1828800"/>
          </a:xfrm>
          <a:prstGeom prst="roundRect">
            <a:avLst>
              <a:gd name="adj" fmla="val 4000"/>
            </a:avLst>
          </a:prstGeom>
          <a:solidFill>
            <a:srgbClr val="1E2E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4672" y="41605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04672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00200" y="4160520"/>
            <a:ext cx="4105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게이트로 관리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663440"/>
            <a:ext cx="4059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6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4~12주 PoC → KPI 달성 시 본사업 전환. 성공 판단 기준을 착수 시점에 숫자로 합의하고, 안 되면 빠르게 축소·중단.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54496" y="3886200"/>
            <a:ext cx="5385816" cy="1828800"/>
          </a:xfrm>
          <a:prstGeom prst="roundRect">
            <a:avLst>
              <a:gd name="adj" fmla="val 4000"/>
            </a:avLst>
          </a:prstGeom>
          <a:solidFill>
            <a:srgbClr val="1E2E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10528" y="41605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10528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06056" y="4160520"/>
            <a:ext cx="4105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유형별 협의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06056" y="4663440"/>
            <a:ext cx="4059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6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비전·이상탐지·언어·로보틱스 4개 군끼리 데이터·인프라·업체를 공유. On-Premise LLM은 전 과제의 지식 기반이 될 수 있다.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송현그룹 mAX 아카데미 · 2차수 사전과제 AX 리뷰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3000</Words>
  <Application>Microsoft Macintosh PowerPoint</Application>
  <PresentationFormat>와이드스크린</PresentationFormat>
  <Paragraphs>458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송현그룹 mAX 아카데미 2차수 사전과제 리뷰</dc:title>
  <dc:subject>PptxGenJS Presentation</dc:subject>
  <dc:creator>mAX Academy</dc:creator>
  <cp:lastModifiedBy>김화종</cp:lastModifiedBy>
  <cp:revision>2</cp:revision>
  <dcterms:created xsi:type="dcterms:W3CDTF">2026-07-08T07:32:22Z</dcterms:created>
  <dcterms:modified xsi:type="dcterms:W3CDTF">2026-07-08T07:40:56Z</dcterms:modified>
</cp:coreProperties>
</file>